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6" r:id="rId25"/>
    <p:sldId id="287" r:id="rId26"/>
    <p:sldId id="288" r:id="rId27"/>
    <p:sldId id="280" r:id="rId28"/>
    <p:sldId id="281" r:id="rId29"/>
    <p:sldId id="282" r:id="rId30"/>
    <p:sldId id="283" r:id="rId31"/>
    <p:sldId id="284" r:id="rId32"/>
    <p:sldId id="285" r:id="rId33"/>
    <p:sldId id="289" r:id="rId34"/>
    <p:sldId id="29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napToGrid="0">
      <p:cViewPr>
        <p:scale>
          <a:sx n="75" d="100"/>
          <a:sy n="75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83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10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91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863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620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195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632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463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38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59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B23071-4853-454D-B5DE-95FBFC953AC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1B2B2-42B9-47DC-BF0A-2ABBDC5543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52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XÂY DỰNG MÔ HÌNH ĐA PHƯƠNG THỨC DỰ ĐOÁN TÀI CHÍNH (BTC/USD – 1HR)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Phạm Gia Huy – 52100896</a:t>
            </a:r>
          </a:p>
          <a:p>
            <a:r>
              <a:rPr lang="en-US" dirty="0" smtClean="0"/>
              <a:t>Lê Phạm Hoàng Phương - 52100922</a:t>
            </a:r>
          </a:p>
        </p:txBody>
      </p:sp>
    </p:spTree>
    <p:extLst>
      <p:ext uri="{BB962C8B-B14F-4D97-AF65-F5344CB8AC3E}">
        <p14:creationId xmlns:p14="http://schemas.microsoft.com/office/powerpoint/2010/main" val="226209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- Dữ liệu Media: gồm 3 cột Date, content(headings) và sentiment label 3 nhãn positive, negative, neutral (Crypto news + tin tài chính)</a:t>
            </a:r>
            <a:endParaRPr lang="en-US" dirty="0"/>
          </a:p>
          <a:p>
            <a:pPr marL="0" indent="0">
              <a:buNone/>
            </a:pPr>
            <a:r>
              <a:rPr lang="en-US" dirty="0" smtClean="0"/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208" y="2699853"/>
            <a:ext cx="9627577" cy="368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682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- Dữ liệu OHLCV: gồm 8 cột đã chuẩn hóa MinMax Scaler(datetime, open, high, low, close, volume, sma14, rsi14)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715" y="2651218"/>
            <a:ext cx="7426569" cy="352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224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Dữ liệu được split thành 4 phần: train(~50%), test(~25%), valid(~25%), backtest(~10%).</a:t>
            </a:r>
          </a:p>
          <a:p>
            <a:r>
              <a:rPr lang="en-US" dirty="0" smtClean="0"/>
              <a:t>Dữ liệu có thời gian split theo media(từ 2017-09-29 đến 2025-10-02)</a:t>
            </a:r>
          </a:p>
          <a:p>
            <a:r>
              <a:rPr lang="en-US" dirty="0" smtClean="0"/>
              <a:t>Cả media và OHLCV điều split theo khung thời gian và tỉ lệ này</a:t>
            </a:r>
          </a:p>
        </p:txBody>
      </p:sp>
    </p:spTree>
    <p:extLst>
      <p:ext uri="{BB962C8B-B14F-4D97-AF65-F5344CB8AC3E}">
        <p14:creationId xmlns:p14="http://schemas.microsoft.com/office/powerpoint/2010/main" val="610885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Finetuning finBERT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Tham số chính:</a:t>
            </a:r>
          </a:p>
          <a:p>
            <a:pPr lvl="1"/>
            <a:r>
              <a:rPr lang="en-US" dirty="0" smtClean="0"/>
              <a:t>MAX LENGTH: 512</a:t>
            </a:r>
          </a:p>
          <a:p>
            <a:pPr lvl="1"/>
            <a:r>
              <a:rPr lang="en-US" dirty="0" smtClean="0"/>
              <a:t>TRAIN BATCH SIZE: 16 DÒNG</a:t>
            </a:r>
          </a:p>
          <a:p>
            <a:pPr lvl="1"/>
            <a:r>
              <a:rPr lang="en-US" dirty="0" smtClean="0"/>
              <a:t>EVAL BATCH SIZE: 32 DÒNG</a:t>
            </a:r>
          </a:p>
          <a:p>
            <a:pPr lvl="1"/>
            <a:r>
              <a:rPr lang="en-US" dirty="0"/>
              <a:t>LEARNING_RATE = 2e-5</a:t>
            </a:r>
          </a:p>
          <a:p>
            <a:pPr lvl="1"/>
            <a:r>
              <a:rPr lang="en-US" dirty="0"/>
              <a:t>NUM_EPOCHS = </a:t>
            </a:r>
            <a:r>
              <a:rPr lang="en-US" dirty="0" smtClean="0"/>
              <a:t>4</a:t>
            </a:r>
          </a:p>
          <a:p>
            <a:pPr lvl="1"/>
            <a:r>
              <a:rPr lang="en-US" dirty="0" smtClean="0"/>
              <a:t>COMPUTE_METRIC: accuracy, precision, recall và macro-F1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429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Finetuning finBERT – kết quả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Confusion matrix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038" y="2265485"/>
            <a:ext cx="6178062" cy="411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304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Finetuning finBERT – kết quả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Score tốt đối với Negative và positive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730" y="2383056"/>
            <a:ext cx="7218485" cy="43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053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Finetuning LSTM baseline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Loss ổn định</a:t>
            </a:r>
          </a:p>
          <a:p>
            <a:r>
              <a:rPr lang="en-US" dirty="0" smtClean="0"/>
              <a:t>Sai số tương đối trung bình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3207" y="1631891"/>
            <a:ext cx="6224765" cy="473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2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Finetuning Transformer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Loss ổn định sớm</a:t>
            </a:r>
          </a:p>
          <a:p>
            <a:r>
              <a:rPr lang="en-US" dirty="0" smtClean="0"/>
              <a:t>Embedding giàu chiều hơn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482" y="3659182"/>
            <a:ext cx="6366195" cy="294286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161" y="687227"/>
            <a:ext cx="5635869" cy="283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028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Finetuning Att-cnn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Loss ổn định sớm</a:t>
            </a:r>
          </a:p>
          <a:p>
            <a:r>
              <a:rPr lang="en-US" dirty="0" smtClean="0"/>
              <a:t>MSE và MAE tốt hơn một chút </a:t>
            </a:r>
          </a:p>
          <a:p>
            <a:pPr marL="0" indent="0">
              <a:buNone/>
            </a:pPr>
            <a:r>
              <a:rPr lang="en-US" dirty="0" smtClean="0"/>
              <a:t>So với transformer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577" y="710437"/>
            <a:ext cx="5595397" cy="274440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596" y="3589783"/>
            <a:ext cx="6245728" cy="315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851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Kết quả so sánh baseline vs att-cnn và transformer 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9619"/>
            <a:ext cx="105156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40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Tổng kết mô hình định lượng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LSTM baseline thể hiện ổn định, phù hợp làm chuẩn</a:t>
            </a:r>
          </a:p>
          <a:p>
            <a:r>
              <a:rPr lang="en-US" dirty="0" smtClean="0"/>
              <a:t>ATT-CNN-LSTM cho kết quả định lượng tốt nhất, phản ánh rõ giao động của chuỗi</a:t>
            </a:r>
          </a:p>
          <a:p>
            <a:r>
              <a:rPr lang="en-US" dirty="0" smtClean="0"/>
              <a:t>Transformer tạo embedding trừu tượng mạnh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smtClean="0"/>
              <a:t>-&gt; sẵn sàng cho tích hợp finBERT + ATT-CNN + Transformer</a:t>
            </a:r>
          </a:p>
        </p:txBody>
      </p:sp>
    </p:spTree>
    <p:extLst>
      <p:ext uri="{BB962C8B-B14F-4D97-AF65-F5344CB8AC3E}">
        <p14:creationId xmlns:p14="http://schemas.microsoft.com/office/powerpoint/2010/main" val="4101327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Training Fusion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input_dim: </a:t>
            </a:r>
            <a:r>
              <a:rPr lang="en-US" dirty="0" smtClean="0"/>
              <a:t>1283</a:t>
            </a:r>
            <a:r>
              <a:rPr lang="vi-VN" dirty="0" smtClean="0"/>
              <a:t> </a:t>
            </a:r>
            <a:r>
              <a:rPr lang="vi-VN" dirty="0"/>
              <a:t>    </a:t>
            </a:r>
            <a:r>
              <a:rPr lang="en-US" dirty="0" smtClean="0"/>
              <a:t>= </a:t>
            </a:r>
            <a:r>
              <a:rPr lang="en-US" dirty="0" smtClean="0"/>
              <a:t>finBERT(3) </a:t>
            </a:r>
            <a:r>
              <a:rPr lang="en-US" dirty="0" smtClean="0"/>
              <a:t>+ </a:t>
            </a:r>
            <a:r>
              <a:rPr lang="en-US" dirty="0" smtClean="0"/>
              <a:t>Transformer(512) </a:t>
            </a:r>
            <a:r>
              <a:rPr lang="en-US" dirty="0" smtClean="0"/>
              <a:t>+ </a:t>
            </a:r>
            <a:r>
              <a:rPr lang="en-US" dirty="0" smtClean="0"/>
              <a:t>ATT-CNN(786)</a:t>
            </a:r>
            <a:endParaRPr lang="vi-VN" dirty="0"/>
          </a:p>
          <a:p>
            <a:r>
              <a:rPr lang="vi-VN" dirty="0"/>
              <a:t>hidden_dim: </a:t>
            </a:r>
            <a:r>
              <a:rPr lang="en-US" dirty="0" smtClean="0"/>
              <a:t>[1024, </a:t>
            </a:r>
            <a:r>
              <a:rPr lang="vi-VN" dirty="0" smtClean="0"/>
              <a:t>512</a:t>
            </a:r>
            <a:r>
              <a:rPr lang="en-US" dirty="0" smtClean="0"/>
              <a:t>]</a:t>
            </a:r>
            <a:endParaRPr lang="vi-VN" dirty="0"/>
          </a:p>
          <a:p>
            <a:r>
              <a:rPr lang="vi-VN" dirty="0"/>
              <a:t>output_dim: 256  </a:t>
            </a:r>
            <a:endParaRPr lang="en-US" dirty="0" smtClean="0"/>
          </a:p>
          <a:p>
            <a:r>
              <a:rPr lang="en-US" dirty="0"/>
              <a:t>lr: </a:t>
            </a:r>
            <a:r>
              <a:rPr lang="en-US" dirty="0" smtClean="0"/>
              <a:t>0.0001</a:t>
            </a:r>
            <a:endParaRPr lang="en-US" dirty="0"/>
          </a:p>
          <a:p>
            <a:r>
              <a:rPr lang="en-US" dirty="0"/>
              <a:t>epochs: 100</a:t>
            </a:r>
          </a:p>
          <a:p>
            <a:r>
              <a:rPr lang="en-US" dirty="0"/>
              <a:t>optimizer: </a:t>
            </a:r>
            <a:r>
              <a:rPr lang="en-US" dirty="0" smtClean="0"/>
              <a:t>Adam</a:t>
            </a:r>
          </a:p>
          <a:p>
            <a:r>
              <a:rPr lang="en-US" dirty="0" smtClean="0"/>
              <a:t>Sử dụng embedding dựa trên </a:t>
            </a:r>
            <a:r>
              <a:rPr lang="en-US" dirty="0" smtClean="0"/>
              <a:t>inference tập train của </a:t>
            </a:r>
            <a:r>
              <a:rPr lang="en-US" dirty="0" smtClean="0"/>
              <a:t>3 mô hình</a:t>
            </a:r>
            <a:endParaRPr lang="en-US" dirty="0"/>
          </a:p>
          <a:p>
            <a:endParaRPr lang="vi-VN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45575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Training Fusion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Mô hình hội tụ tốt</a:t>
            </a:r>
          </a:p>
          <a:p>
            <a:r>
              <a:rPr lang="en-US" dirty="0" smtClean="0"/>
              <a:t>Loss giảm mạnh</a:t>
            </a:r>
          </a:p>
          <a:p>
            <a:r>
              <a:rPr lang="en-US" dirty="0" smtClean="0"/>
              <a:t>Rút gọn được vector đặc trưng</a:t>
            </a:r>
            <a:br>
              <a:rPr lang="en-US" dirty="0" smtClean="0"/>
            </a:br>
            <a:r>
              <a:rPr lang="en-US" dirty="0" smtClean="0"/>
              <a:t>256 chiều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213" y="652634"/>
            <a:ext cx="5174096" cy="524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452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Training </a:t>
            </a:r>
            <a:r>
              <a:rPr lang="en-US" dirty="0"/>
              <a:t>Bandit LinUCB</a:t>
            </a:r>
            <a:endParaRPr lang="en-US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838200" y="2154636"/>
            <a:ext cx="1063576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được mô hình hóa như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contextual bandit (LinUCB)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chọn hành động FLAT/LONG/SHORT theo context hiện tại.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 gồm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fusion embedding + đặc trưng kỹ thuật nhẹ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chỉ sử dụng thông tin sẵn có tại thời điểm quyết định.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Reward là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log-wealth increment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giúp mô hình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không phụ thuộc quy mô vốn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Diagonal LinUCB + UCB bonus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cân bằng giữa khai thác và khám phá.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Tham số được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cập nhật online với forgetting factor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thích nghi thị trường.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trễ 1 bar (trade at next open)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tránh look-ahead bias.</a:t>
            </a:r>
          </a:p>
        </p:txBody>
      </p:sp>
    </p:spTree>
    <p:extLst>
      <p:ext uri="{BB962C8B-B14F-4D97-AF65-F5344CB8AC3E}">
        <p14:creationId xmlns:p14="http://schemas.microsoft.com/office/powerpoint/2010/main" val="3302240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Training </a:t>
            </a:r>
            <a:r>
              <a:rPr lang="en-US" dirty="0"/>
              <a:t>Bandit LinUCB</a:t>
            </a:r>
            <a:endParaRPr lang="en-US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838200" y="2078206"/>
            <a:ext cx="4595446" cy="3846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vi-VN" sz="1800" dirty="0"/>
              <a:t>Agent LinDiagUCB với context 260 chiều </a:t>
            </a:r>
            <a:r>
              <a:rPr lang="vi-VN" sz="1800" b="1" dirty="0"/>
              <a:t>không hội tụ</a:t>
            </a:r>
            <a:r>
              <a:rPr lang="vi-VN" sz="1800" dirty="0"/>
              <a:t>, equity giảm mạnh về cuối train.</a:t>
            </a:r>
          </a:p>
          <a:p>
            <a:r>
              <a:rPr lang="vi-VN" sz="1800" dirty="0"/>
              <a:t>Sharpe âm liên tục và </a:t>
            </a:r>
            <a:r>
              <a:rPr lang="vi-VN" sz="1800" b="1" dirty="0"/>
              <a:t>max drawdown ~99%</a:t>
            </a:r>
            <a:r>
              <a:rPr lang="vi-VN" sz="1800" dirty="0"/>
              <a:t>, cho thấy policy học được không ổn định.</a:t>
            </a:r>
          </a:p>
          <a:p>
            <a:r>
              <a:rPr lang="vi-VN" sz="1800" dirty="0"/>
              <a:t>Action distribution bị </a:t>
            </a:r>
            <a:r>
              <a:rPr lang="vi-VN" sz="1800" b="1" dirty="0"/>
              <a:t>lệch mạnh về SHORT</a:t>
            </a:r>
            <a:r>
              <a:rPr lang="vi-VN" sz="1800" dirty="0"/>
              <a:t>, gần như không sử dụng FLAT.</a:t>
            </a:r>
          </a:p>
          <a:p>
            <a:r>
              <a:rPr lang="vi-VN" sz="1800" dirty="0"/>
              <a:t>Gamma cao khiến agent </a:t>
            </a:r>
            <a:r>
              <a:rPr lang="vi-VN" sz="1800" b="1" dirty="0"/>
              <a:t>ghi nhớ bias sai quá lâu</a:t>
            </a:r>
            <a:r>
              <a:rPr lang="vi-VN" sz="1800" dirty="0"/>
              <a:t>, khó tự điều chỉnh.</a:t>
            </a:r>
          </a:p>
          <a:p>
            <a:r>
              <a:rPr lang="vi-VN" sz="1800" dirty="0"/>
              <a:t>Kết quả train phản ánh </a:t>
            </a:r>
            <a:r>
              <a:rPr lang="vi-VN" sz="1800" b="1" dirty="0"/>
              <a:t>giới hạn của bandit tuyến tính</a:t>
            </a:r>
            <a:r>
              <a:rPr lang="vi-VN" sz="1800" dirty="0"/>
              <a:t> khi dùng fusion embeddings + tech features.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491" y="1501724"/>
            <a:ext cx="5587355" cy="483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082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Training </a:t>
            </a:r>
            <a:r>
              <a:rPr lang="en-US" dirty="0"/>
              <a:t>Bandit LinUCB</a:t>
            </a:r>
            <a:endParaRPr lang="en-US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838200" y="2078206"/>
            <a:ext cx="4595446" cy="3846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vi-VN" sz="1800" dirty="0"/>
              <a:t>Agent LinDiagUCB với context 260 chiều </a:t>
            </a:r>
            <a:r>
              <a:rPr lang="vi-VN" sz="1800" b="1" dirty="0"/>
              <a:t>không hội tụ</a:t>
            </a:r>
            <a:r>
              <a:rPr lang="vi-VN" sz="1800" dirty="0"/>
              <a:t>, equity giảm mạnh về cuối train.</a:t>
            </a:r>
          </a:p>
          <a:p>
            <a:r>
              <a:rPr lang="vi-VN" sz="1800" dirty="0"/>
              <a:t>Sharpe âm liên tục và </a:t>
            </a:r>
            <a:r>
              <a:rPr lang="vi-VN" sz="1800" b="1" dirty="0"/>
              <a:t>max drawdown ~99%</a:t>
            </a:r>
            <a:r>
              <a:rPr lang="vi-VN" sz="1800" dirty="0"/>
              <a:t>, cho thấy policy học được không ổn định.</a:t>
            </a:r>
          </a:p>
          <a:p>
            <a:r>
              <a:rPr lang="vi-VN" sz="1800" dirty="0"/>
              <a:t>Action distribution bị </a:t>
            </a:r>
            <a:r>
              <a:rPr lang="vi-VN" sz="1800" b="1" dirty="0"/>
              <a:t>lệch mạnh về SHORT</a:t>
            </a:r>
            <a:r>
              <a:rPr lang="vi-VN" sz="1800" dirty="0"/>
              <a:t>, gần như không sử dụng FLAT.</a:t>
            </a:r>
          </a:p>
          <a:p>
            <a:r>
              <a:rPr lang="vi-VN" sz="1800" dirty="0"/>
              <a:t>Gamma cao khiến agent </a:t>
            </a:r>
            <a:r>
              <a:rPr lang="vi-VN" sz="1800" b="1" dirty="0"/>
              <a:t>ghi nhớ bias sai quá lâu</a:t>
            </a:r>
            <a:r>
              <a:rPr lang="vi-VN" sz="1800" dirty="0"/>
              <a:t>, khó tự điều chỉnh.</a:t>
            </a:r>
          </a:p>
          <a:p>
            <a:r>
              <a:rPr lang="vi-VN" sz="1800" dirty="0"/>
              <a:t>Kết quả train phản ánh </a:t>
            </a:r>
            <a:r>
              <a:rPr lang="vi-VN" sz="1800" b="1" dirty="0"/>
              <a:t>giới hạn của bandit tuyến tính</a:t>
            </a:r>
            <a:r>
              <a:rPr lang="vi-VN" sz="1800" dirty="0"/>
              <a:t> khi dùng fusion embeddings + tech features.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491" y="1501724"/>
            <a:ext cx="5587355" cy="483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647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Backtest - Finbert</a:t>
            </a:r>
            <a:endParaRPr lang="en-US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199" y="1369805"/>
            <a:ext cx="10108223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Sử dụng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FinBERT đã fine-tune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trích xuất sentiment từ tiêu đề tin tức trong từng giai đoạn backtest.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Thực hiện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inference thuần (no fine-tuning)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nhằm tránh information leakage.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Tổng hợp sentiment theo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trung bình ngày (daily mean)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giảm nhiễu tin tức ngắn hạn.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Ánh xạ sentiment sang chuỗi OHLCV bằng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forward-fill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đảm bảo không dùng dữ liệu tương lai.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Cắt bỏ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LOOKBACK ban đầu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đồng bộ với pipeline backtest thời gian.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Sinh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sentiment embeddings theo từng backtest split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dùng làm input cho mô hình giao dịch.</a:t>
            </a:r>
          </a:p>
        </p:txBody>
      </p:sp>
    </p:spTree>
    <p:extLst>
      <p:ext uri="{BB962C8B-B14F-4D97-AF65-F5344CB8AC3E}">
        <p14:creationId xmlns:p14="http://schemas.microsoft.com/office/powerpoint/2010/main" val="3690312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Backtest - Finbert</a:t>
            </a:r>
            <a:endParaRPr lang="en-US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199" y="1369805"/>
            <a:ext cx="10108223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Sử dụng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FinBERT đã fine-tune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trích xuất sentiment từ tiêu đề tin tức trong từng giai đoạn backtest.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Thực hiện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inference thuần (no fine-tuning)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nhằm tránh information leakage.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Tổng hợp sentiment theo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trung bình ngày (daily mean)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giảm nhiễu tin tức ngắn hạn.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Ánh xạ sentiment sang chuỗi OHLCV bằng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forward-fill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đảm bảo không dùng dữ liệu tương lai.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Cắt bỏ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LOOKBACK ban đầu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để đồng bộ với pipeline backtest thời gian.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Sinh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sentiment embeddings theo từng backtest split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dùng làm input cho mô hình giao dịch.</a:t>
            </a:r>
          </a:p>
        </p:txBody>
      </p:sp>
    </p:spTree>
    <p:extLst>
      <p:ext uri="{BB962C8B-B14F-4D97-AF65-F5344CB8AC3E}">
        <p14:creationId xmlns:p14="http://schemas.microsoft.com/office/powerpoint/2010/main" val="3077308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Backtest – att-cnn</a:t>
            </a:r>
            <a:endParaRPr lang="en-US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199" y="1369805"/>
            <a:ext cx="10108223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Sử dụng </a:t>
            </a:r>
            <a:r>
              <a:rPr lang="en-US" altLang="en-US" b="1" dirty="0">
                <a:latin typeface="Arial" panose="020B0604020202020204" pitchFamily="34" charset="0"/>
              </a:rPr>
              <a:t>ATT-CNN-LSTM v3 đã train trước</a:t>
            </a:r>
            <a:r>
              <a:rPr lang="en-US" altLang="en-US" dirty="0">
                <a:latin typeface="Arial" panose="020B0604020202020204" pitchFamily="34" charset="0"/>
              </a:rPr>
              <a:t>, chỉ chạy </a:t>
            </a:r>
            <a:r>
              <a:rPr lang="en-US" altLang="en-US" b="1" dirty="0">
                <a:latin typeface="Arial" panose="020B0604020202020204" pitchFamily="34" charset="0"/>
              </a:rPr>
              <a:t>inference</a:t>
            </a:r>
            <a:r>
              <a:rPr lang="en-US" altLang="en-US" dirty="0">
                <a:latin typeface="Arial" panose="020B0604020202020204" pitchFamily="34" charset="0"/>
              </a:rPr>
              <a:t> trong giai đoạn backtest.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Chuỗi OHLCV + indicators được tạo theo </a:t>
            </a:r>
            <a:r>
              <a:rPr lang="en-US" altLang="en-US" b="1" dirty="0">
                <a:latin typeface="Arial" panose="020B0604020202020204" pitchFamily="34" charset="0"/>
              </a:rPr>
              <a:t>cửa sổ LOOKBACK = 60</a:t>
            </a:r>
            <a:r>
              <a:rPr lang="en-US" altLang="en-US" dirty="0">
                <a:latin typeface="Arial" panose="020B0604020202020204" pitchFamily="34" charset="0"/>
              </a:rPr>
              <a:t>, phản ánh động lực ngắn–trung hạn.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CNN trích xuất </a:t>
            </a:r>
            <a:r>
              <a:rPr lang="en-US" altLang="en-US" b="1" dirty="0">
                <a:latin typeface="Arial" panose="020B0604020202020204" pitchFamily="34" charset="0"/>
              </a:rPr>
              <a:t>local temporal patterns</a:t>
            </a:r>
            <a:r>
              <a:rPr lang="en-US" altLang="en-US" dirty="0">
                <a:latin typeface="Arial" panose="020B0604020202020204" pitchFamily="34" charset="0"/>
              </a:rPr>
              <a:t>, Attention nhấn mạnh các thời điểm quan trọng.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LSTM mã hoá </a:t>
            </a:r>
            <a:r>
              <a:rPr lang="en-US" altLang="en-US" b="1" dirty="0">
                <a:latin typeface="Arial" panose="020B0604020202020204" pitchFamily="34" charset="0"/>
              </a:rPr>
              <a:t>quan hệ thời gian dài hạn</a:t>
            </a:r>
            <a:r>
              <a:rPr lang="en-US" altLang="en-US" dirty="0">
                <a:latin typeface="Arial" panose="020B0604020202020204" pitchFamily="34" charset="0"/>
              </a:rPr>
              <a:t> thành vector embedding cố định.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Embeddings được sinh </a:t>
            </a:r>
            <a:r>
              <a:rPr lang="en-US" altLang="en-US" b="1" dirty="0">
                <a:latin typeface="Arial" panose="020B0604020202020204" pitchFamily="34" charset="0"/>
              </a:rPr>
              <a:t>riêng cho từng backtest split</a:t>
            </a:r>
            <a:r>
              <a:rPr lang="en-US" altLang="en-US" dirty="0">
                <a:latin typeface="Arial" panose="020B0604020202020204" pitchFamily="34" charset="0"/>
              </a:rPr>
              <a:t>, không trộn dữ liệu giữa các giai đoạn.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Output embedding dùng làm </a:t>
            </a:r>
            <a:r>
              <a:rPr lang="en-US" altLang="en-US" b="1" dirty="0">
                <a:latin typeface="Arial" panose="020B0604020202020204" pitchFamily="34" charset="0"/>
              </a:rPr>
              <a:t>input cho tầng fusion / decision layer</a:t>
            </a:r>
            <a:r>
              <a:rPr lang="en-US" altLang="en-US" dirty="0">
                <a:latin typeface="Arial" panose="020B0604020202020204" pitchFamily="34" charset="0"/>
              </a:rPr>
              <a:t>, không trực tiếp sinh tín hiệu giao dịch.</a:t>
            </a:r>
          </a:p>
        </p:txBody>
      </p:sp>
    </p:spTree>
    <p:extLst>
      <p:ext uri="{BB962C8B-B14F-4D97-AF65-F5344CB8AC3E}">
        <p14:creationId xmlns:p14="http://schemas.microsoft.com/office/powerpoint/2010/main" val="222614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Backtest – transformer</a:t>
            </a:r>
            <a:endParaRPr lang="en-US" dirty="0"/>
          </a:p>
        </p:txBody>
      </p:sp>
      <p:sp>
        <p:nvSpPr>
          <p:cNvPr id="4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838201" y="1369805"/>
            <a:ext cx="9467088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Sử dụng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TimeSeries Transformer v3 đã huấn luyện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chỉ chạy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inference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trong backtest.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Chuỗi OHLCV + indicators được cắt theo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LOOKBACK = 60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đảm bảo không dùng dữ liệu tương lai.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Self-attention cho phép mô hình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nắm bắt quan hệ dài hạn và phi tuyến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trong chuỗi giá.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Embedding đầu ra (256-dim) đại diện cho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trạng thái thị trường tại mỗi thời điểm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Embeddings được sinh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riêng cho từng backtest split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tránh leakage giữa các giai đoạn.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 chỉ đóng vai trò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 cho tầng fusion / decision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trực tiếp tạo lệnh giao dịch.</a:t>
            </a:r>
          </a:p>
        </p:txBody>
      </p:sp>
    </p:spTree>
    <p:extLst>
      <p:ext uri="{BB962C8B-B14F-4D97-AF65-F5344CB8AC3E}">
        <p14:creationId xmlns:p14="http://schemas.microsoft.com/office/powerpoint/2010/main" val="1569121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fusion</a:t>
            </a:r>
            <a:endParaRPr lang="en-US" dirty="0"/>
          </a:p>
        </p:txBody>
      </p:sp>
      <p:sp>
        <p:nvSpPr>
          <p:cNvPr id="4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838200" y="1092293"/>
            <a:ext cx="10662137" cy="58180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vi-VN" dirty="0"/>
              <a:t>Kết hợp </a:t>
            </a:r>
            <a:r>
              <a:rPr lang="vi-VN" b="1" dirty="0"/>
              <a:t>FinBERT, ATT-CNN-LSTM và Transformer embeddings</a:t>
            </a:r>
            <a:r>
              <a:rPr lang="vi-VN" dirty="0"/>
              <a:t> thành một vector thống nhất.</a:t>
            </a:r>
          </a:p>
          <a:p>
            <a:r>
              <a:rPr lang="vi-VN" dirty="0"/>
              <a:t>Sử dụng </a:t>
            </a:r>
            <a:r>
              <a:rPr lang="vi-VN" b="1" dirty="0"/>
              <a:t>Fusion MLP (autoencoder-style)</a:t>
            </a:r>
            <a:r>
              <a:rPr lang="vi-VN" dirty="0"/>
              <a:t> đã huấn luyện trước, chỉ chạy inference trong backtest.</a:t>
            </a:r>
          </a:p>
          <a:p>
            <a:r>
              <a:rPr lang="vi-VN" dirty="0"/>
              <a:t>Encoder học cách </a:t>
            </a:r>
            <a:r>
              <a:rPr lang="vi-VN" b="1" dirty="0"/>
              <a:t>nén thông tin đa mô hình</a:t>
            </a:r>
            <a:r>
              <a:rPr lang="vi-VN" dirty="0"/>
              <a:t> thành latent embedding gọn (fusion embedding).</a:t>
            </a:r>
          </a:p>
          <a:p>
            <a:r>
              <a:rPr lang="vi-VN" dirty="0"/>
              <a:t>Thực hiện </a:t>
            </a:r>
            <a:r>
              <a:rPr lang="vi-VN" b="1" dirty="0"/>
              <a:t>align theo độ dài ngắn nhất</a:t>
            </a:r>
            <a:r>
              <a:rPr lang="vi-VN" dirty="0"/>
              <a:t>, đảm bảo đồng bộ thời gian giữa các nguồn.</a:t>
            </a:r>
          </a:p>
          <a:p>
            <a:r>
              <a:rPr lang="vi-VN" dirty="0"/>
              <a:t>Sinh embedding </a:t>
            </a:r>
            <a:r>
              <a:rPr lang="vi-VN" b="1" dirty="0"/>
              <a:t>riêng cho từng backtest split</a:t>
            </a:r>
            <a:r>
              <a:rPr lang="vi-VN" dirty="0"/>
              <a:t>, không trộn dữ liệu giữa các giai đoạn.</a:t>
            </a:r>
          </a:p>
          <a:p>
            <a:r>
              <a:rPr lang="vi-VN" dirty="0"/>
              <a:t>Fusion embedding là </a:t>
            </a:r>
            <a:r>
              <a:rPr lang="vi-VN" b="1" dirty="0"/>
              <a:t>đầu vào cuối cùng cho decision layer (Bandit/RL)</a:t>
            </a:r>
            <a:r>
              <a:rPr lang="vi-VN" dirty="0"/>
              <a:t>, không trực tiếp tạo lệnh giao dịch.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119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749808" y="1397237"/>
            <a:ext cx="9777419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Fusion embeddings được đưa vào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LinDiagUCB Bandit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làm tín hiệu quyết định hướng giao dịch.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không học lại từ đầu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chỉ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 online nhẹ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với hệ số quên (γ) trong backtest.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Hành vi giao dịch bị ràng buộc bởi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 rules cứng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advantage gate, cooldown, max-hold, flip-to-flat.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Equity được tính theo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log-return lagged execution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tránh look-ahead bias.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Reset prior giữa các split giúp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overconfidence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tăng tính ổn định.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Backtest phản ánh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hiệu quả thực dụng của pipeline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phải năng lực học thuần của agent.</a:t>
            </a:r>
          </a:p>
        </p:txBody>
      </p:sp>
    </p:spTree>
    <p:extLst>
      <p:ext uri="{BB962C8B-B14F-4D97-AF65-F5344CB8AC3E}">
        <p14:creationId xmlns:p14="http://schemas.microsoft.com/office/powerpoint/2010/main" val="1446483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 – KẾT QUẢ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7884" y="1234698"/>
            <a:ext cx="5970890" cy="5588055"/>
          </a:xfrm>
          <a:prstGeom prst="rect">
            <a:avLst/>
          </a:prstGeom>
        </p:spPr>
      </p:pic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 flipH="1">
            <a:off x="293224" y="1888703"/>
            <a:ext cx="525104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đạt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lợi nhuận dương và ổn định trên cả 3 giai đoạn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phụ thuộc vào một regime duy nhất.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Đường balance tăng theo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các nhịp rõ ràng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có hiện tượng spike bất thường → không bị look-ahead hay overfitting rõ rệt.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Số điểm vào lệnh ít, phân bố hợp lý → chiến lược mang tính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selective trading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overtrade.</a:t>
            </a:r>
          </a:p>
        </p:txBody>
      </p:sp>
    </p:spTree>
    <p:extLst>
      <p:ext uri="{BB962C8B-B14F-4D97-AF65-F5344CB8AC3E}">
        <p14:creationId xmlns:p14="http://schemas.microsoft.com/office/powerpoint/2010/main" val="2520701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 – KẾT QUẢ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7884" y="1234698"/>
            <a:ext cx="5970890" cy="5588055"/>
          </a:xfrm>
          <a:prstGeom prst="rect">
            <a:avLst/>
          </a:prstGeom>
        </p:spPr>
      </p:pic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 flipH="1">
            <a:off x="293224" y="2111328"/>
            <a:ext cx="5251047" cy="33404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vi-VN" sz="2400" dirty="0"/>
              <a:t>Drawdown được </a:t>
            </a:r>
            <a:r>
              <a:rPr lang="vi-VN" sz="2400" b="1" dirty="0"/>
              <a:t>kiểm soát tốt</a:t>
            </a:r>
            <a:r>
              <a:rPr lang="vi-VN" sz="2400" dirty="0"/>
              <a:t> (≈ 3%–9% tuỳ giai đoạn), thấp so với mức ROI đạt được.</a:t>
            </a:r>
          </a:p>
          <a:p>
            <a:r>
              <a:rPr lang="vi-VN" sz="2400" dirty="0"/>
              <a:t>Không xuất hiện drawdown kéo dài liên tục → agent có khả năng </a:t>
            </a:r>
            <a:r>
              <a:rPr lang="vi-VN" sz="2400" b="1" dirty="0"/>
              <a:t>thoát vị thế khi điều kiện xấu</a:t>
            </a:r>
            <a:r>
              <a:rPr lang="vi-VN" sz="2400" dirty="0"/>
              <a:t>.</a:t>
            </a:r>
          </a:p>
          <a:p>
            <a:r>
              <a:rPr lang="vi-VN" sz="2400" dirty="0"/>
              <a:t>Các pha drawdown thường gắn với </a:t>
            </a:r>
            <a:r>
              <a:rPr lang="vi-VN" sz="2400" b="1" dirty="0"/>
              <a:t>regime sideway hoặc đảo chiều mạnh</a:t>
            </a:r>
            <a:r>
              <a:rPr lang="vi-VN" sz="2400" dirty="0"/>
              <a:t>, không phải do lỗi hệ thống.</a:t>
            </a:r>
          </a:p>
        </p:txBody>
      </p:sp>
    </p:spTree>
    <p:extLst>
      <p:ext uri="{BB962C8B-B14F-4D97-AF65-F5344CB8AC3E}">
        <p14:creationId xmlns:p14="http://schemas.microsoft.com/office/powerpoint/2010/main" val="533500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 – KẾT QUẢ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7884" y="1234698"/>
            <a:ext cx="5970890" cy="5588055"/>
          </a:xfrm>
          <a:prstGeom prst="rect">
            <a:avLst/>
          </a:prstGeom>
        </p:spPr>
      </p:pic>
      <p:sp>
        <p:nvSpPr>
          <p:cNvPr id="6" name="Rectangle 2"/>
          <p:cNvSpPr>
            <a:spLocks noGrp="1" noChangeArrowheads="1"/>
          </p:cNvSpPr>
          <p:nvPr>
            <p:ph idx="1"/>
          </p:nvPr>
        </p:nvSpPr>
        <p:spPr bwMode="auto">
          <a:xfrm flipH="1">
            <a:off x="433754" y="1888599"/>
            <a:ext cx="5275384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Entry LONG/SHORT thường xuất hiện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sau khi giá hình thành xu hướng ngắn hạn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bắt đáy/đỉnh cực đoan.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Flip trực tiếp LONG ↔ SHORT rất hiếm → rule </a:t>
            </a:r>
            <a:r>
              <a:rPr kumimoji="0" lang="en-US" altLang="en-US" sz="24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flip-to-flat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hoạt động đúng mục đích.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</a:t>
            </a: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ưu tiên giữ vị thế hơn là liên tục đảo chiều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phù hợp với trading chi phí thấp.</a:t>
            </a:r>
          </a:p>
        </p:txBody>
      </p:sp>
    </p:spTree>
    <p:extLst>
      <p:ext uri="{BB962C8B-B14F-4D97-AF65-F5344CB8AC3E}">
        <p14:creationId xmlns:p14="http://schemas.microsoft.com/office/powerpoint/2010/main" val="2713203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8262" y="1470880"/>
            <a:ext cx="9777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Kết quả trading</a:t>
            </a:r>
            <a:r>
              <a:rPr kumimoji="0" lang="en-US" altLang="en-US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part1</a:t>
            </a: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55618"/>
            <a:ext cx="10515600" cy="371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6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8262" y="1470880"/>
            <a:ext cx="9777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Kết quả trading</a:t>
            </a:r>
            <a:r>
              <a:rPr kumimoji="0" lang="en-US" altLang="en-US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part2</a:t>
            </a: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05" y="2143155"/>
            <a:ext cx="10266875" cy="35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718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8262" y="1470880"/>
            <a:ext cx="9777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Kết quả trading</a:t>
            </a:r>
            <a:r>
              <a:rPr kumimoji="0" lang="en-US" altLang="en-US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part3</a:t>
            </a:r>
            <a:endParaRPr kumimoji="0" lang="en-US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" y="2078140"/>
            <a:ext cx="11772900" cy="412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816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8262" y="1470880"/>
            <a:ext cx="9777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Drawdown part1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2347254"/>
            <a:ext cx="10637520" cy="319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7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8262" y="1470880"/>
            <a:ext cx="9777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Drawdown part2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62" y="2416132"/>
            <a:ext cx="10600592" cy="3180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005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bandit Agent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8262" y="1470880"/>
            <a:ext cx="977741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Drawdown part3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512260"/>
            <a:ext cx="1085850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5432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TỔNG KẾT</a:t>
            </a:r>
            <a:endParaRPr lang="en-US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524608" y="2008843"/>
            <a:ext cx="11142784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Kết quả backtest cho thấy agent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mang tính thực dụng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không dựa vào dự đoán chính xác từng bước.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Hiệu quả đến từ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 vừa đủ + execution control chặt chẽ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thay vì học thuần như RL truyền thống.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Pipeline phù hợp để </a:t>
            </a: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mở rộng sang paper trading / live trading có kiểm soát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044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45317"/>
            <a:ext cx="10515600" cy="1325563"/>
          </a:xfrm>
        </p:spPr>
        <p:txBody>
          <a:bodyPr/>
          <a:lstStyle/>
          <a:p>
            <a:r>
              <a:rPr lang="en-US" dirty="0" smtClean="0"/>
              <a:t>Backtest – TỔNG KẾT</a:t>
            </a:r>
            <a:endParaRPr lang="en-US" dirty="0"/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3126292"/>
              </p:ext>
            </p:extLst>
          </p:nvPr>
        </p:nvGraphicFramePr>
        <p:xfrm>
          <a:off x="1544315" y="1778000"/>
          <a:ext cx="9966964" cy="3748818"/>
        </p:xfrm>
        <a:graphic>
          <a:graphicData uri="http://schemas.openxmlformats.org/drawingml/2006/table">
            <a:tbl>
              <a:tblPr/>
              <a:tblGrid>
                <a:gridCol w="4983482">
                  <a:extLst>
                    <a:ext uri="{9D8B030D-6E8A-4147-A177-3AD203B41FA5}">
                      <a16:colId xmlns:a16="http://schemas.microsoft.com/office/drawing/2014/main" val="2874046242"/>
                    </a:ext>
                  </a:extLst>
                </a:gridCol>
                <a:gridCol w="4983482">
                  <a:extLst>
                    <a:ext uri="{9D8B030D-6E8A-4147-A177-3AD203B41FA5}">
                      <a16:colId xmlns:a16="http://schemas.microsoft.com/office/drawing/2014/main" val="3682569817"/>
                    </a:ext>
                  </a:extLst>
                </a:gridCol>
              </a:tblGrid>
              <a:tr h="717296">
                <a:tc>
                  <a:txBody>
                    <a:bodyPr/>
                    <a:lstStyle/>
                    <a:p>
                      <a:r>
                        <a:rPr lang="en-US" sz="2800"/>
                        <a:t>Thành phần</a:t>
                      </a:r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Đóng góp</a:t>
                      </a:r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2618554"/>
                  </a:ext>
                </a:extLst>
              </a:tr>
              <a:tr h="717296">
                <a:tc>
                  <a:txBody>
                    <a:bodyPr/>
                    <a:lstStyle/>
                    <a:p>
                      <a:r>
                        <a:rPr lang="en-US" sz="2800"/>
                        <a:t>ML models (FinBERT + TS + Fusion)</a:t>
                      </a:r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30–40%</a:t>
                      </a:r>
                      <a:endParaRPr lang="en-US" sz="2800"/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6658183"/>
                  </a:ext>
                </a:extLst>
              </a:tr>
              <a:tr h="717296">
                <a:tc>
                  <a:txBody>
                    <a:bodyPr/>
                    <a:lstStyle/>
                    <a:p>
                      <a:r>
                        <a:rPr lang="en-US" sz="2800"/>
                        <a:t>Bandit + Execution rules</a:t>
                      </a:r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 dirty="0"/>
                        <a:t>40–50%</a:t>
                      </a:r>
                      <a:endParaRPr lang="en-US" sz="2800" dirty="0"/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3873533"/>
                  </a:ext>
                </a:extLst>
              </a:tr>
              <a:tr h="717296">
                <a:tc>
                  <a:txBody>
                    <a:bodyPr/>
                    <a:lstStyle/>
                    <a:p>
                      <a:r>
                        <a:rPr lang="en-US" sz="2800"/>
                        <a:t>Risk &amp; backtest design</a:t>
                      </a:r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/>
                        <a:t>15–20%</a:t>
                      </a:r>
                      <a:endParaRPr lang="en-US" sz="2800"/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9822099"/>
                  </a:ext>
                </a:extLst>
              </a:tr>
              <a:tr h="717296">
                <a:tc>
                  <a:txBody>
                    <a:bodyPr/>
                    <a:lstStyle/>
                    <a:p>
                      <a:r>
                        <a:rPr lang="en-US" sz="2800"/>
                        <a:t>Market luck</a:t>
                      </a:r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1" dirty="0"/>
                        <a:t>5–10%</a:t>
                      </a:r>
                      <a:endParaRPr lang="en-US" sz="2800" dirty="0"/>
                    </a:p>
                  </a:txBody>
                  <a:tcPr marL="26194" marR="26194" marT="13097" marB="130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804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449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1640</Words>
  <Application>Microsoft Office PowerPoint</Application>
  <PresentationFormat>Widescreen</PresentationFormat>
  <Paragraphs>158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Calibri Light</vt:lpstr>
      <vt:lpstr>Office Theme</vt:lpstr>
      <vt:lpstr>XÂY DỰNG MÔ HÌNH ĐA PHƯƠNG THỨC DỰ ĐOÁN TÀI CHÍNH (BTC/USD – 1HR)</vt:lpstr>
      <vt:lpstr>Data</vt:lpstr>
      <vt:lpstr>Data</vt:lpstr>
      <vt:lpstr>Data</vt:lpstr>
      <vt:lpstr>Finetuning finBERT</vt:lpstr>
      <vt:lpstr>Finetuning finBERT – kết quả</vt:lpstr>
      <vt:lpstr>Finetuning finBERT – kết quả</vt:lpstr>
      <vt:lpstr>Finetuning LSTM baseline</vt:lpstr>
      <vt:lpstr>Finetuning Transformer</vt:lpstr>
      <vt:lpstr>Finetuning Att-cnn</vt:lpstr>
      <vt:lpstr>Kết quả so sánh baseline vs att-cnn và transformer </vt:lpstr>
      <vt:lpstr>Tổng kết mô hình định lượng</vt:lpstr>
      <vt:lpstr>Training Fusion</vt:lpstr>
      <vt:lpstr>Training Fusion</vt:lpstr>
      <vt:lpstr>Training Bandit LinUCB</vt:lpstr>
      <vt:lpstr>Training Bandit LinUCB</vt:lpstr>
      <vt:lpstr>Training Bandit LinUCB</vt:lpstr>
      <vt:lpstr>Backtest - Finbert</vt:lpstr>
      <vt:lpstr>Backtest - Finbert</vt:lpstr>
      <vt:lpstr>Backtest – att-cnn</vt:lpstr>
      <vt:lpstr>Backtest – transformer</vt:lpstr>
      <vt:lpstr>Backtest – fusion</vt:lpstr>
      <vt:lpstr>Backtest – bandit Agent</vt:lpstr>
      <vt:lpstr>Backtest – bandit Agent – KẾT QUẢ</vt:lpstr>
      <vt:lpstr>Backtest – bandit Agent – KẾT QUẢ</vt:lpstr>
      <vt:lpstr>Backtest – bandit Agent – KẾT QUẢ</vt:lpstr>
      <vt:lpstr>Backtest – bandit Agent</vt:lpstr>
      <vt:lpstr>Backtest – bandit Agent</vt:lpstr>
      <vt:lpstr>Backtest – bandit Agent</vt:lpstr>
      <vt:lpstr>Backtest – bandit Agent</vt:lpstr>
      <vt:lpstr>Backtest – bandit Agent</vt:lpstr>
      <vt:lpstr>Backtest – bandit Agent</vt:lpstr>
      <vt:lpstr>Backtest – TỔNG KẾT</vt:lpstr>
      <vt:lpstr>Backtest – TỔNG KẾT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30</cp:revision>
  <dcterms:created xsi:type="dcterms:W3CDTF">2025-11-09T01:57:56Z</dcterms:created>
  <dcterms:modified xsi:type="dcterms:W3CDTF">2025-12-20T12:44:27Z</dcterms:modified>
</cp:coreProperties>
</file>